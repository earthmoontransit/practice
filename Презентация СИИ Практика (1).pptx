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y="5670550" cx="10080625"/>
  <p:notesSz cx="7559675" cy="106918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2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4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3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3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5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5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6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6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7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7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"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/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5"/>
          <p:cNvSpPr txBox="1"/>
          <p:nvPr>
            <p:ph idx="1" type="body"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5"/>
          <p:cNvSpPr txBox="1"/>
          <p:nvPr>
            <p:ph idx="2" type="body"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/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7"/>
          <p:cNvSpPr txBox="1"/>
          <p:nvPr>
            <p:ph idx="1" type="subTitle"/>
          </p:nvPr>
        </p:nvSpPr>
        <p:spPr>
          <a:xfrm>
            <a:off x="504000" y="226080"/>
            <a:ext cx="9071640" cy="438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8"/>
          <p:cNvSpPr txBox="1"/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8"/>
          <p:cNvSpPr txBox="1"/>
          <p:nvPr>
            <p:ph idx="1" type="body"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8"/>
          <p:cNvSpPr txBox="1"/>
          <p:nvPr>
            <p:ph idx="2" type="body"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8"/>
          <p:cNvSpPr txBox="1"/>
          <p:nvPr>
            <p:ph idx="3" type="body"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9"/>
          <p:cNvSpPr txBox="1"/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9"/>
          <p:cNvSpPr txBox="1"/>
          <p:nvPr>
            <p:ph idx="1" type="body"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9"/>
          <p:cNvSpPr txBox="1"/>
          <p:nvPr>
            <p:ph idx="2" type="body"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9"/>
          <p:cNvSpPr txBox="1"/>
          <p:nvPr>
            <p:ph idx="3" type="body"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"/>
          <p:cNvSpPr txBox="1"/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0"/>
          <p:cNvSpPr txBox="1"/>
          <p:nvPr>
            <p:ph idx="1" type="body"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0"/>
          <p:cNvSpPr txBox="1"/>
          <p:nvPr>
            <p:ph idx="2" type="body"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0"/>
          <p:cNvSpPr txBox="1"/>
          <p:nvPr>
            <p:ph idx="3" type="body"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1"/>
          <p:cNvSpPr txBox="1"/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1"/>
          <p:cNvSpPr txBox="1"/>
          <p:nvPr>
            <p:ph idx="1" type="body"/>
          </p:nvPr>
        </p:nvSpPr>
        <p:spPr>
          <a:xfrm>
            <a:off x="504000" y="1326600"/>
            <a:ext cx="907164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1"/>
          <p:cNvSpPr txBox="1"/>
          <p:nvPr>
            <p:ph idx="2" type="body"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/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2"/>
          <p:cNvSpPr txBox="1"/>
          <p:nvPr>
            <p:ph idx="1" type="body"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2"/>
          <p:cNvSpPr txBox="1"/>
          <p:nvPr>
            <p:ph idx="2" type="body"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2"/>
          <p:cNvSpPr txBox="1"/>
          <p:nvPr>
            <p:ph idx="3" type="body"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2"/>
          <p:cNvSpPr txBox="1"/>
          <p:nvPr>
            <p:ph idx="4" type="body"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3"/>
          <p:cNvSpPr txBox="1"/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" type="body"/>
          </p:nvPr>
        </p:nvSpPr>
        <p:spPr>
          <a:xfrm>
            <a:off x="504000" y="1326600"/>
            <a:ext cx="292068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3"/>
          <p:cNvSpPr txBox="1"/>
          <p:nvPr>
            <p:ph idx="2" type="body"/>
          </p:nvPr>
        </p:nvSpPr>
        <p:spPr>
          <a:xfrm>
            <a:off x="3571200" y="1326600"/>
            <a:ext cx="292068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3"/>
          <p:cNvSpPr txBox="1"/>
          <p:nvPr>
            <p:ph idx="3" type="body"/>
          </p:nvPr>
        </p:nvSpPr>
        <p:spPr>
          <a:xfrm>
            <a:off x="6638040" y="1326600"/>
            <a:ext cx="292068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3"/>
          <p:cNvSpPr txBox="1"/>
          <p:nvPr>
            <p:ph idx="4" type="body"/>
          </p:nvPr>
        </p:nvSpPr>
        <p:spPr>
          <a:xfrm>
            <a:off x="504000" y="3044160"/>
            <a:ext cx="292068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3"/>
          <p:cNvSpPr txBox="1"/>
          <p:nvPr>
            <p:ph idx="5" type="body"/>
          </p:nvPr>
        </p:nvSpPr>
        <p:spPr>
          <a:xfrm>
            <a:off x="3571200" y="3044160"/>
            <a:ext cx="292068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3"/>
          <p:cNvSpPr txBox="1"/>
          <p:nvPr>
            <p:ph idx="6" type="body"/>
          </p:nvPr>
        </p:nvSpPr>
        <p:spPr>
          <a:xfrm>
            <a:off x="6638040" y="3044160"/>
            <a:ext cx="292068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4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4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4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4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4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4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4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4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4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1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1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1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/>
        </p:nvSpPr>
        <p:spPr>
          <a:xfrm>
            <a:off x="504000" y="616320"/>
            <a:ext cx="9071640" cy="4708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МИНИСТЕРСТВО ЦИФРОВОГО РАЗВИТИЯ, СВЯЗИ И МАССОВЫХ КОММУНИКАЦИЙ РОССИЙСКОЙ ФЕДЕРАЦИИ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2800"/>
              </a:spcBef>
              <a:spcAft>
                <a:spcPts val="0"/>
              </a:spcAft>
              <a:buNone/>
            </a:pPr>
            <a:r>
              <a:rPr b="0" i="0" lang="ru-RU" sz="1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Ордена Трудового Красного Знамени федеральное государственное бюджетное образовательное учреждение высшего образования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2800"/>
              </a:spcBef>
              <a:spcAft>
                <a:spcPts val="0"/>
              </a:spcAft>
              <a:buNone/>
            </a:pPr>
            <a:r>
              <a:rPr b="0" i="0" lang="ru-RU" sz="1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«Московский технический университет связи и информатики»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2800"/>
              </a:spcBef>
              <a:spcAft>
                <a:spcPts val="0"/>
              </a:spcAft>
              <a:buNone/>
            </a:pPr>
            <a:r>
              <a:rPr b="0" i="0" lang="ru-RU" sz="1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Кафедра «Математическая кибернетика и информационные технологии»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2800"/>
              </a:spcBef>
              <a:spcAft>
                <a:spcPts val="0"/>
              </a:spcAft>
              <a:buNone/>
            </a:pPr>
            <a:r>
              <a:rPr b="0" i="0" lang="ru-RU" sz="1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Дисциплина «Системы искусственного интеллекта»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2800"/>
              </a:spcBef>
              <a:spcAft>
                <a:spcPts val="0"/>
              </a:spcAft>
              <a:buNone/>
            </a:pPr>
            <a:r>
              <a:rPr b="0" i="0" lang="ru-RU" sz="1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Презентация по учебной практике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280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spcBef>
                <a:spcPts val="2800"/>
              </a:spcBef>
              <a:spcAft>
                <a:spcPts val="0"/>
              </a:spcAft>
              <a:buNone/>
            </a:pPr>
            <a:r>
              <a:rPr b="0" i="0" lang="ru-RU" sz="1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Выполнил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spcBef>
                <a:spcPts val="2800"/>
              </a:spcBef>
              <a:spcAft>
                <a:spcPts val="0"/>
              </a:spcAft>
              <a:buNone/>
            </a:pPr>
            <a:r>
              <a:rPr b="0" i="0" lang="ru-RU" sz="1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студент группы БВТ2204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spcBef>
                <a:spcPts val="2800"/>
              </a:spcBef>
              <a:spcAft>
                <a:spcPts val="0"/>
              </a:spcAft>
              <a:buNone/>
            </a:pPr>
            <a:r>
              <a:rPr lang="ru-RU">
                <a:latin typeface="Times New Roman"/>
                <a:ea typeface="Times New Roman"/>
                <a:cs typeface="Times New Roman"/>
                <a:sym typeface="Times New Roman"/>
              </a:rPr>
              <a:t>Прокопчук</a:t>
            </a:r>
            <a:r>
              <a:rPr b="0" i="0" lang="ru-RU" sz="1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 Д.С.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280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2800"/>
              </a:spcBef>
              <a:spcAft>
                <a:spcPts val="0"/>
              </a:spcAft>
              <a:buNone/>
            </a:pPr>
            <a:r>
              <a:rPr b="0" i="0" lang="ru-RU" sz="1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Москва 2026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4" name="Google Shape;6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60000" y="-360000"/>
            <a:ext cx="1440000" cy="1281240"/>
          </a:xfrm>
          <a:prstGeom prst="rect">
            <a:avLst/>
          </a:prstGeom>
          <a:noFill/>
          <a:ln>
            <a:noFill/>
          </a:ln>
          <a:effectLst>
            <a:outerShdw dir="18900000" dist="37674">
              <a:srgbClr val="000000">
                <a:alpha val="40000"/>
              </a:srgbClr>
            </a:outerShdw>
          </a:effectLst>
        </p:spPr>
      </p:pic>
      <p:pic>
        <p:nvPicPr>
          <p:cNvPr id="65" name="Google Shape;6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116000" y="1260000"/>
            <a:ext cx="1620000" cy="1441080"/>
          </a:xfrm>
          <a:prstGeom prst="rect">
            <a:avLst/>
          </a:prstGeom>
          <a:noFill/>
          <a:ln>
            <a:noFill/>
          </a:ln>
          <a:effectLst>
            <a:outerShdw dir="10800000" dist="3816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/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4400" u="none" cap="none" strike="noStrike">
                <a:latin typeface="Arial"/>
                <a:ea typeface="Arial"/>
                <a:cs typeface="Arial"/>
                <a:sym typeface="Arial"/>
              </a:rPr>
              <a:t>Веб-интерфейс</a:t>
            </a:r>
            <a:endParaRPr b="0" i="0" sz="4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1" name="Google Shape;7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54240" y="-372960"/>
            <a:ext cx="1440000" cy="1281240"/>
          </a:xfrm>
          <a:prstGeom prst="rect">
            <a:avLst/>
          </a:prstGeom>
          <a:noFill/>
          <a:ln>
            <a:noFill/>
          </a:ln>
          <a:effectLst>
            <a:outerShdw dir="18900000" dist="37674">
              <a:srgbClr val="000000">
                <a:alpha val="40000"/>
              </a:srgbClr>
            </a:outerShdw>
          </a:effectLst>
        </p:spPr>
      </p:pic>
      <p:pic>
        <p:nvPicPr>
          <p:cNvPr id="72" name="Google Shape;7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121760" y="1247040"/>
            <a:ext cx="1620000" cy="1441080"/>
          </a:xfrm>
          <a:prstGeom prst="rect">
            <a:avLst/>
          </a:prstGeom>
          <a:noFill/>
          <a:ln>
            <a:noFill/>
          </a:ln>
          <a:effectLst>
            <a:outerShdw dir="10800000" dist="38160">
              <a:srgbClr val="000000">
                <a:alpha val="40000"/>
              </a:srgbClr>
            </a:outerShdw>
          </a:effectLst>
        </p:spPr>
      </p:pic>
      <p:pic>
        <p:nvPicPr>
          <p:cNvPr id="73" name="Google Shape;73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0640" y="1324920"/>
            <a:ext cx="8280303" cy="41932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/>
          <p:nvPr/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4400"/>
              <a:t>Пример запроса</a:t>
            </a:r>
            <a:endParaRPr b="0" i="0" sz="4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9" name="Google Shape;7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54240" y="-372960"/>
            <a:ext cx="1440000" cy="1281240"/>
          </a:xfrm>
          <a:prstGeom prst="rect">
            <a:avLst/>
          </a:prstGeom>
          <a:noFill/>
          <a:ln>
            <a:noFill/>
          </a:ln>
          <a:effectLst>
            <a:outerShdw dir="18900000" dist="37674">
              <a:srgbClr val="000000">
                <a:alpha val="40000"/>
              </a:srgbClr>
            </a:outerShdw>
          </a:effectLst>
        </p:spPr>
      </p:pic>
      <p:pic>
        <p:nvPicPr>
          <p:cNvPr id="80" name="Google Shape;8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121760" y="1247040"/>
            <a:ext cx="1620000" cy="1441080"/>
          </a:xfrm>
          <a:prstGeom prst="rect">
            <a:avLst/>
          </a:prstGeom>
          <a:noFill/>
          <a:ln>
            <a:noFill/>
          </a:ln>
          <a:effectLst>
            <a:outerShdw dir="10800000" dist="38160">
              <a:srgbClr val="000000">
                <a:alpha val="40000"/>
              </a:srgbClr>
            </a:outerShdw>
          </a:effectLst>
        </p:spPr>
      </p:pic>
      <p:pic>
        <p:nvPicPr>
          <p:cNvPr id="81" name="Google Shape;81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71065" y="1324920"/>
            <a:ext cx="6113493" cy="41932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 txBox="1"/>
          <p:nvPr/>
        </p:nvSpPr>
        <p:spPr>
          <a:xfrm>
            <a:off x="504000" y="74160"/>
            <a:ext cx="9071640" cy="1250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4400" u="none" cap="none" strike="noStrike">
                <a:latin typeface="Arial"/>
                <a:ea typeface="Arial"/>
                <a:cs typeface="Arial"/>
                <a:sym typeface="Arial"/>
              </a:rPr>
              <a:t>Вывод статистики в веб-интерфейсе</a:t>
            </a:r>
            <a:endParaRPr b="0" i="0" sz="4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7" name="Google Shape;8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54240" y="-372960"/>
            <a:ext cx="1440000" cy="1281240"/>
          </a:xfrm>
          <a:prstGeom prst="rect">
            <a:avLst/>
          </a:prstGeom>
          <a:noFill/>
          <a:ln>
            <a:noFill/>
          </a:ln>
          <a:effectLst>
            <a:outerShdw dir="18900000" dist="37674">
              <a:srgbClr val="000000">
                <a:alpha val="40000"/>
              </a:srgbClr>
            </a:outerShdw>
          </a:effectLst>
        </p:spPr>
      </p:pic>
      <p:pic>
        <p:nvPicPr>
          <p:cNvPr id="88" name="Google Shape;8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121760" y="1247040"/>
            <a:ext cx="1620000" cy="1441080"/>
          </a:xfrm>
          <a:prstGeom prst="rect">
            <a:avLst/>
          </a:prstGeom>
          <a:noFill/>
          <a:ln>
            <a:noFill/>
          </a:ln>
          <a:effectLst>
            <a:outerShdw dir="10800000" dist="38160">
              <a:srgbClr val="000000">
                <a:alpha val="40000"/>
              </a:srgbClr>
            </a:outerShdw>
          </a:effectLst>
        </p:spPr>
      </p:pic>
      <p:pic>
        <p:nvPicPr>
          <p:cNvPr id="89" name="Google Shape;89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0240" y="1776465"/>
            <a:ext cx="8915400" cy="3562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/>
          <p:nvPr/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4400" u="none" cap="none" strike="noStrike">
                <a:latin typeface="Arial"/>
                <a:ea typeface="Arial"/>
                <a:cs typeface="Arial"/>
                <a:sym typeface="Arial"/>
              </a:rPr>
              <a:t>История всех обнаружений</a:t>
            </a:r>
            <a:endParaRPr b="0" i="0" sz="4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5" name="Google Shape;9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54240" y="-372960"/>
            <a:ext cx="1440000" cy="1281240"/>
          </a:xfrm>
          <a:prstGeom prst="rect">
            <a:avLst/>
          </a:prstGeom>
          <a:noFill/>
          <a:ln>
            <a:noFill/>
          </a:ln>
          <a:effectLst>
            <a:outerShdw dir="18900000" dist="37674">
              <a:srgbClr val="000000">
                <a:alpha val="40000"/>
              </a:srgbClr>
            </a:outerShdw>
          </a:effectLst>
        </p:spPr>
      </p:pic>
      <p:pic>
        <p:nvPicPr>
          <p:cNvPr id="96" name="Google Shape;9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121760" y="1247040"/>
            <a:ext cx="1620000" cy="1441080"/>
          </a:xfrm>
          <a:prstGeom prst="rect">
            <a:avLst/>
          </a:prstGeom>
          <a:noFill/>
          <a:ln>
            <a:noFill/>
          </a:ln>
          <a:effectLst>
            <a:outerShdw dir="10800000" dist="38160">
              <a:srgbClr val="000000">
                <a:alpha val="40000"/>
              </a:srgbClr>
            </a:outerShdw>
          </a:effectLst>
        </p:spPr>
      </p:pic>
      <p:pic>
        <p:nvPicPr>
          <p:cNvPr id="97" name="Google Shape;97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27165" y="1324920"/>
            <a:ext cx="7268265" cy="41932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9"/>
          <p:cNvSpPr txBox="1"/>
          <p:nvPr/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4400" u="none" cap="none" strike="noStrike">
                <a:latin typeface="Arial"/>
                <a:ea typeface="Arial"/>
                <a:cs typeface="Arial"/>
                <a:sym typeface="Arial"/>
              </a:rPr>
              <a:t>Отчеты</a:t>
            </a:r>
            <a:endParaRPr b="0" i="0" sz="4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3" name="Google Shape;10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54240" y="-372960"/>
            <a:ext cx="1440000" cy="1281240"/>
          </a:xfrm>
          <a:prstGeom prst="rect">
            <a:avLst/>
          </a:prstGeom>
          <a:noFill/>
          <a:ln>
            <a:noFill/>
          </a:ln>
          <a:effectLst>
            <a:outerShdw dir="18900000" dist="37674">
              <a:srgbClr val="000000">
                <a:alpha val="40000"/>
              </a:srgbClr>
            </a:outerShdw>
          </a:effectLst>
        </p:spPr>
      </p:pic>
      <p:pic>
        <p:nvPicPr>
          <p:cNvPr id="104" name="Google Shape;10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121760" y="1247040"/>
            <a:ext cx="1620000" cy="1441080"/>
          </a:xfrm>
          <a:prstGeom prst="rect">
            <a:avLst/>
          </a:prstGeom>
          <a:noFill/>
          <a:ln>
            <a:noFill/>
          </a:ln>
          <a:effectLst>
            <a:outerShdw dir="10800000" dist="38160">
              <a:srgbClr val="000000">
                <a:alpha val="40000"/>
              </a:srgbClr>
            </a:outerShdw>
          </a:effectLst>
        </p:spPr>
      </p:pic>
      <p:pic>
        <p:nvPicPr>
          <p:cNvPr id="105" name="Google Shape;105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0640" y="1324920"/>
            <a:ext cx="8915400" cy="413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0"/>
          <p:cNvSpPr txBox="1"/>
          <p:nvPr/>
        </p:nvSpPr>
        <p:spPr>
          <a:xfrm>
            <a:off x="504000" y="229356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4400" u="none" cap="none" strike="noStrike">
                <a:latin typeface="Arial"/>
                <a:ea typeface="Arial"/>
                <a:cs typeface="Arial"/>
                <a:sym typeface="Arial"/>
              </a:rPr>
              <a:t>Спасибо за внимание!</a:t>
            </a:r>
            <a:endParaRPr b="0" i="0" sz="4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1" name="Google Shape;11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48480" y="-385920"/>
            <a:ext cx="1440000" cy="1281240"/>
          </a:xfrm>
          <a:prstGeom prst="rect">
            <a:avLst/>
          </a:prstGeom>
          <a:noFill/>
          <a:ln>
            <a:noFill/>
          </a:ln>
          <a:effectLst>
            <a:outerShdw dir="18900000" dist="37674">
              <a:srgbClr val="000000">
                <a:alpha val="40000"/>
              </a:srgbClr>
            </a:outerShdw>
          </a:effectLst>
        </p:spPr>
      </p:pic>
      <p:pic>
        <p:nvPicPr>
          <p:cNvPr id="112" name="Google Shape;112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127520" y="1234080"/>
            <a:ext cx="1620000" cy="1441080"/>
          </a:xfrm>
          <a:prstGeom prst="rect">
            <a:avLst/>
          </a:prstGeom>
          <a:noFill/>
          <a:ln>
            <a:noFill/>
          </a:ln>
          <a:effectLst>
            <a:outerShdw dir="10800000" dist="3816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